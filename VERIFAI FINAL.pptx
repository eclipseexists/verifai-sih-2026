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09AE2-8788-4A81-AAF5-406DE373EA23}" v="1" dt="2026-09-10T10:21:58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gupta" userId="dcb46d3a1623b727" providerId="LiveId" clId="{3E087F0A-6B0E-4621-A904-E1676BFE8EE4}"/>
    <pc:docChg chg="undo custSel modSld">
      <pc:chgData name="Kavya gupta" userId="dcb46d3a1623b727" providerId="LiveId" clId="{3E087F0A-6B0E-4621-A904-E1676BFE8EE4}" dt="2026-09-10T10:24:13.538" v="51" actId="1076"/>
      <pc:docMkLst>
        <pc:docMk/>
      </pc:docMkLst>
      <pc:sldChg chg="addSp delSp modSp mod">
        <pc:chgData name="Kavya gupta" userId="dcb46d3a1623b727" providerId="LiveId" clId="{3E087F0A-6B0E-4621-A904-E1676BFE8EE4}" dt="2026-09-10T10:24:13.538" v="51" actId="1076"/>
        <pc:sldMkLst>
          <pc:docMk/>
          <pc:sldMk cId="0" sldId="256"/>
        </pc:sldMkLst>
        <pc:spChg chg="mod">
          <ac:chgData name="Kavya gupta" userId="dcb46d3a1623b727" providerId="LiveId" clId="{3E087F0A-6B0E-4621-A904-E1676BFE8EE4}" dt="2026-09-10T10:23:55.843" v="47" actId="1076"/>
          <ac:spMkLst>
            <pc:docMk/>
            <pc:sldMk cId="0" sldId="256"/>
            <ac:spMk id="129" creationId="{00000000-0000-0000-0000-000000000000}"/>
          </ac:spMkLst>
        </pc:spChg>
        <pc:picChg chg="add mod">
          <ac:chgData name="Kavya gupta" userId="dcb46d3a1623b727" providerId="LiveId" clId="{3E087F0A-6B0E-4621-A904-E1676BFE8EE4}" dt="2026-09-10T10:24:13.538" v="51" actId="1076"/>
          <ac:picMkLst>
            <pc:docMk/>
            <pc:sldMk cId="0" sldId="256"/>
            <ac:picMk id="7" creationId="{78CAC083-DDE7-2924-2986-B06553521024}"/>
          </ac:picMkLst>
        </pc:picChg>
        <pc:picChg chg="del">
          <ac:chgData name="Kavya gupta" userId="dcb46d3a1623b727" providerId="LiveId" clId="{3E087F0A-6B0E-4621-A904-E1676BFE8EE4}" dt="2026-09-10T10:24:00.705" v="49" actId="478"/>
          <ac:picMkLst>
            <pc:docMk/>
            <pc:sldMk cId="0" sldId="256"/>
            <ac:picMk id="131" creationId="{00000000-0000-0000-0000-000000000000}"/>
          </ac:picMkLst>
        </pc:picChg>
      </pc:sldChg>
      <pc:sldChg chg="modSp mod">
        <pc:chgData name="Kavya gupta" userId="dcb46d3a1623b727" providerId="LiveId" clId="{3E087F0A-6B0E-4621-A904-E1676BFE8EE4}" dt="2026-09-10T10:15:37.157" v="11" actId="1036"/>
        <pc:sldMkLst>
          <pc:docMk/>
          <pc:sldMk cId="0" sldId="257"/>
        </pc:sldMkLst>
        <pc:spChg chg="mod">
          <ac:chgData name="Kavya gupta" userId="dcb46d3a1623b727" providerId="LiveId" clId="{3E087F0A-6B0E-4621-A904-E1676BFE8EE4}" dt="2026-09-10T10:15:37.157" v="11" actId="1036"/>
          <ac:spMkLst>
            <pc:docMk/>
            <pc:sldMk cId="0" sldId="257"/>
            <ac:spMk id="196" creationId="{00000000-0000-0000-0000-000000000000}"/>
          </ac:spMkLst>
        </pc:spChg>
      </pc:sldChg>
      <pc:sldChg chg="addSp delSp modSp mod">
        <pc:chgData name="Kavya gupta" userId="dcb46d3a1623b727" providerId="LiveId" clId="{3E087F0A-6B0E-4621-A904-E1676BFE8EE4}" dt="2026-09-10T10:22:12.756" v="20" actId="1076"/>
        <pc:sldMkLst>
          <pc:docMk/>
          <pc:sldMk cId="0" sldId="261"/>
        </pc:sldMkLst>
        <pc:spChg chg="mod">
          <ac:chgData name="Kavya gupta" userId="dcb46d3a1623b727" providerId="LiveId" clId="{3E087F0A-6B0E-4621-A904-E1676BFE8EE4}" dt="2026-09-10T10:16:07.183" v="16" actId="14100"/>
          <ac:spMkLst>
            <pc:docMk/>
            <pc:sldMk cId="0" sldId="261"/>
            <ac:spMk id="400" creationId="{00000000-0000-0000-0000-000000000000}"/>
          </ac:spMkLst>
        </pc:spChg>
        <pc:spChg chg="add del">
          <ac:chgData name="Kavya gupta" userId="dcb46d3a1623b727" providerId="LiveId" clId="{3E087F0A-6B0E-4621-A904-E1676BFE8EE4}" dt="2026-09-10T10:16:06.814" v="15" actId="478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Kavya gupta" userId="dcb46d3a1623b727" providerId="LiveId" clId="{3E087F0A-6B0E-4621-A904-E1676BFE8EE4}" dt="2026-09-10T10:16:07.656" v="17" actId="1076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Kavya gupta" userId="dcb46d3a1623b727" providerId="LiveId" clId="{3E087F0A-6B0E-4621-A904-E1676BFE8EE4}" dt="2026-09-10T10:22:12.756" v="20" actId="1076"/>
          <ac:spMkLst>
            <pc:docMk/>
            <pc:sldMk cId="0" sldId="261"/>
            <ac:spMk id="4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c9743cb6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409c9743cb6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9c9743cb6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8" name="Google Shape;138;g409c9743cb6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409c9743cb6_0_3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c9743cb6_3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0" name="Google Shape;200;g409c9743cb6_3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409c9743cb6_3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09c9743cb6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81" name="Google Shape;281;g409c9743cb6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409c9743cb6_0_9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409c9743cb6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34" name="Google Shape;334;g409c9743cb6_3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409c9743cb6_3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09c9743cb6_0_1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78" name="Google Shape;378;g409c9743cb6_0_1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409c9743cb6_0_19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7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7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90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1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685450" y="-1406719"/>
            <a:ext cx="3773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50" y="1371631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69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clipseExists/VERIFAI-SIH-202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hyperlink" Target="https://sih.gov.in/sih2026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242585" y="638641"/>
            <a:ext cx="3478954" cy="3866225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1"/>
          </p:nvPr>
        </p:nvSpPr>
        <p:spPr>
          <a:xfrm>
            <a:off x="0" y="439987"/>
            <a:ext cx="91440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VERIFAI - Explainable AI-Powered Risk Screening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ctrTitle"/>
          </p:nvPr>
        </p:nvSpPr>
        <p:spPr>
          <a:xfrm>
            <a:off x="248464" y="-395068"/>
            <a:ext cx="7772400" cy="155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3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48465" y="1557338"/>
            <a:ext cx="44433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GB" sz="1500" b="1">
                <a:solidFill>
                  <a:schemeClr val="dk1"/>
                </a:solidFill>
              </a:rPr>
              <a:t>–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SIH26188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 b="1">
                <a:solidFill>
                  <a:schemeClr val="dk1"/>
                </a:solidFill>
              </a:rPr>
              <a:t>Problem Statement – AI-Based Fake Identity &amp; Document Screening System</a:t>
            </a:r>
            <a:endParaRPr sz="80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</a:t>
            </a:r>
            <a:r>
              <a:rPr lang="en-GB" sz="1500" b="1">
                <a:solidFill>
                  <a:schemeClr val="dk1"/>
                </a:solidFill>
              </a:rPr>
              <a:t>e –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Blockchain &amp; Cybersecurity</a:t>
            </a:r>
            <a:endParaRPr sz="80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</a:t>
            </a:r>
            <a:r>
              <a:rPr lang="en-GB" sz="1500" b="1">
                <a:solidFill>
                  <a:schemeClr val="dk1"/>
                </a:solidFill>
              </a:rPr>
              <a:t> –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Software/Hardware</a:t>
            </a:r>
            <a:endParaRPr sz="80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</a:t>
            </a:r>
            <a:r>
              <a:rPr lang="en-GB" sz="1500" b="1">
                <a:solidFill>
                  <a:schemeClr val="dk1"/>
                </a:solidFill>
              </a:rPr>
              <a:t> –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0000</a:t>
            </a:r>
            <a:endParaRPr sz="80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GB" sz="1500" b="1">
                <a:solidFill>
                  <a:schemeClr val="dk1"/>
                </a:solidFill>
              </a:rPr>
              <a:t> –</a:t>
            </a:r>
            <a:r>
              <a:rPr lang="en-GB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500" b="1">
                <a:solidFill>
                  <a:schemeClr val="dk1"/>
                </a:solidFill>
              </a:rPr>
              <a:t>Sixth Dimension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7FC0A-3CFA-143E-EA54-15EE25CC4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AC083-DDE7-2924-2986-B06553521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905" y="1360924"/>
            <a:ext cx="3598013" cy="2807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>
                <a:solidFill>
                  <a:schemeClr val="lt1"/>
                </a:solidFill>
              </a:rPr>
              <a:t>VERIFAI - Explainable AI-Powered Risk Screening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26" descr="Your startup LOGO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381000" y="1047750"/>
            <a:ext cx="4019550" cy="3362400"/>
            <a:chOff x="0" y="0"/>
            <a:chExt cx="4019550" cy="3362400"/>
          </a:xfrm>
        </p:grpSpPr>
        <p:grpSp>
          <p:nvGrpSpPr>
            <p:cNvPr id="147" name="Google Shape;147;p26"/>
            <p:cNvGrpSpPr/>
            <p:nvPr/>
          </p:nvGrpSpPr>
          <p:grpSpPr>
            <a:xfrm>
              <a:off x="0" y="0"/>
              <a:ext cx="4019550" cy="619200"/>
              <a:chOff x="0" y="0"/>
              <a:chExt cx="4019550" cy="619200"/>
            </a:xfrm>
          </p:grpSpPr>
          <p:sp>
            <p:nvSpPr>
              <p:cNvPr id="148" name="Google Shape;148;p26"/>
              <p:cNvSpPr/>
              <p:nvPr/>
            </p:nvSpPr>
            <p:spPr>
              <a:xfrm>
                <a:off x="0" y="0"/>
                <a:ext cx="3048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F69A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6"/>
              <p:cNvSpPr txBox="1"/>
              <p:nvPr/>
            </p:nvSpPr>
            <p:spPr>
              <a:xfrm>
                <a:off x="0" y="0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6"/>
              <p:cNvSpPr txBox="1"/>
              <p:nvPr/>
            </p:nvSpPr>
            <p:spPr>
              <a:xfrm>
                <a:off x="400050" y="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Unified Screening Dashboard</a:t>
                </a:r>
                <a:endParaRPr sz="105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Single workflow for passport/document upload, AI checks, risk scoring and officer review.</a:t>
                </a:r>
                <a:endParaRPr sz="9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26"/>
            <p:cNvGrpSpPr/>
            <p:nvPr/>
          </p:nvGrpSpPr>
          <p:grpSpPr>
            <a:xfrm>
              <a:off x="0" y="685800"/>
              <a:ext cx="4019550" cy="619200"/>
              <a:chOff x="0" y="0"/>
              <a:chExt cx="4019550" cy="619200"/>
            </a:xfrm>
          </p:grpSpPr>
          <p:sp>
            <p:nvSpPr>
              <p:cNvPr id="152" name="Google Shape;152;p26"/>
              <p:cNvSpPr/>
              <p:nvPr/>
            </p:nvSpPr>
            <p:spPr>
              <a:xfrm>
                <a:off x="0" y="0"/>
                <a:ext cx="3048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7B5E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6"/>
              <p:cNvSpPr txBox="1"/>
              <p:nvPr/>
            </p:nvSpPr>
            <p:spPr>
              <a:xfrm>
                <a:off x="0" y="0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6"/>
              <p:cNvSpPr txBox="1"/>
              <p:nvPr/>
            </p:nvSpPr>
            <p:spPr>
              <a:xfrm>
                <a:off x="400050" y="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Multi-signal Verification</a:t>
                </a:r>
                <a:endParaRPr sz="105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Combines OCR, MRZ checksum, image forensics and face verification instead of one detector.</a:t>
                </a:r>
                <a:endParaRPr sz="9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26"/>
            <p:cNvGrpSpPr/>
            <p:nvPr/>
          </p:nvGrpSpPr>
          <p:grpSpPr>
            <a:xfrm>
              <a:off x="0" y="1371600"/>
              <a:ext cx="4019550" cy="619200"/>
              <a:chOff x="0" y="0"/>
              <a:chExt cx="4019550" cy="619200"/>
            </a:xfrm>
          </p:grpSpPr>
          <p:sp>
            <p:nvSpPr>
              <p:cNvPr id="156" name="Google Shape;156;p26"/>
              <p:cNvSpPr/>
              <p:nvPr/>
            </p:nvSpPr>
            <p:spPr>
              <a:xfrm>
                <a:off x="0" y="0"/>
                <a:ext cx="3048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E696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6"/>
              <p:cNvSpPr txBox="1"/>
              <p:nvPr/>
            </p:nvSpPr>
            <p:spPr>
              <a:xfrm>
                <a:off x="0" y="0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6"/>
              <p:cNvSpPr txBox="1"/>
              <p:nvPr/>
            </p:nvSpPr>
            <p:spPr>
              <a:xfrm>
                <a:off x="400050" y="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Explainable Risk Engine</a:t>
                </a:r>
                <a:endParaRPr sz="105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Produces a 0–100 score and Low/Med/High band with explicit, human-readable risk signals.</a:t>
                </a:r>
                <a:endParaRPr sz="9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6"/>
            <p:cNvGrpSpPr/>
            <p:nvPr/>
          </p:nvGrpSpPr>
          <p:grpSpPr>
            <a:xfrm>
              <a:off x="0" y="2057400"/>
              <a:ext cx="4019550" cy="619200"/>
              <a:chOff x="0" y="0"/>
              <a:chExt cx="4019550" cy="619200"/>
            </a:xfrm>
          </p:grpSpPr>
          <p:sp>
            <p:nvSpPr>
              <p:cNvPr id="160" name="Google Shape;160;p26"/>
              <p:cNvSpPr/>
              <p:nvPr/>
            </p:nvSpPr>
            <p:spPr>
              <a:xfrm>
                <a:off x="0" y="0"/>
                <a:ext cx="3048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8059A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6"/>
              <p:cNvSpPr txBox="1"/>
              <p:nvPr/>
            </p:nvSpPr>
            <p:spPr>
              <a:xfrm>
                <a:off x="0" y="0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6"/>
              <p:cNvSpPr txBox="1"/>
              <p:nvPr/>
            </p:nvSpPr>
            <p:spPr>
              <a:xfrm>
                <a:off x="400050" y="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Human-in-the-Loop</a:t>
                </a:r>
                <a:endParaRPr sz="105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AI supports border officers; final decision remains with authorized humans and is audit-logged.</a:t>
                </a:r>
                <a:endParaRPr sz="9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26"/>
            <p:cNvGrpSpPr/>
            <p:nvPr/>
          </p:nvGrpSpPr>
          <p:grpSpPr>
            <a:xfrm>
              <a:off x="0" y="2743200"/>
              <a:ext cx="4019550" cy="619200"/>
              <a:chOff x="0" y="0"/>
              <a:chExt cx="4019550" cy="619200"/>
            </a:xfrm>
          </p:grpSpPr>
          <p:sp>
            <p:nvSpPr>
              <p:cNvPr id="164" name="Google Shape;164;p26"/>
              <p:cNvSpPr/>
              <p:nvPr/>
            </p:nvSpPr>
            <p:spPr>
              <a:xfrm>
                <a:off x="0" y="0"/>
                <a:ext cx="3048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4AC28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6"/>
              <p:cNvSpPr txBox="1"/>
              <p:nvPr/>
            </p:nvSpPr>
            <p:spPr>
              <a:xfrm>
                <a:off x="0" y="0"/>
                <a:ext cx="304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sz="1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6"/>
              <p:cNvSpPr txBox="1"/>
              <p:nvPr/>
            </p:nvSpPr>
            <p:spPr>
              <a:xfrm>
                <a:off x="400050" y="0"/>
                <a:ext cx="3619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API-first Architecture</a:t>
                </a:r>
                <a:endParaRPr sz="105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FastAPI REST services integrate AI modules cleanly with React frontend and PostgreSQL.</a:t>
                </a:r>
                <a:endParaRPr sz="9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7" name="Google Shape;167;p26"/>
          <p:cNvGrpSpPr/>
          <p:nvPr/>
        </p:nvGrpSpPr>
        <p:grpSpPr>
          <a:xfrm>
            <a:off x="4619625" y="904875"/>
            <a:ext cx="4238700" cy="3667200"/>
            <a:chOff x="0" y="0"/>
            <a:chExt cx="4238700" cy="3667200"/>
          </a:xfrm>
        </p:grpSpPr>
        <p:sp>
          <p:nvSpPr>
            <p:cNvPr id="168" name="Google Shape;168;p26"/>
            <p:cNvSpPr/>
            <p:nvPr/>
          </p:nvSpPr>
          <p:spPr>
            <a:xfrm>
              <a:off x="0" y="0"/>
              <a:ext cx="4238700" cy="3667200"/>
            </a:xfrm>
            <a:prstGeom prst="roundRect">
              <a:avLst>
                <a:gd name="adj" fmla="val 4155"/>
              </a:avLst>
            </a:prstGeom>
            <a:solidFill>
              <a:srgbClr val="F8F9FA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6"/>
            <p:cNvSpPr txBox="1"/>
            <p:nvPr/>
          </p:nvSpPr>
          <p:spPr>
            <a:xfrm>
              <a:off x="190500" y="142875"/>
              <a:ext cx="3857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rPr>
                <a:t>SYSTEM ARCHITECTURE</a:t>
              </a:r>
              <a:endParaRPr sz="1100" b="1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" name="Google Shape;170;p26"/>
            <p:cNvGrpSpPr/>
            <p:nvPr/>
          </p:nvGrpSpPr>
          <p:grpSpPr>
            <a:xfrm>
              <a:off x="238125" y="523875"/>
              <a:ext cx="3810000" cy="400200"/>
              <a:chOff x="0" y="0"/>
              <a:chExt cx="3810000" cy="400200"/>
            </a:xfrm>
          </p:grpSpPr>
          <p:sp>
            <p:nvSpPr>
              <p:cNvPr id="171" name="Google Shape;171;p26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69A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6"/>
              <p:cNvSpPr txBox="1"/>
              <p:nvPr/>
            </p:nvSpPr>
            <p:spPr>
              <a:xfrm>
                <a:off x="0" y="0"/>
                <a:ext cx="1714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Officer / User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6"/>
              <p:cNvSpPr/>
              <p:nvPr/>
            </p:nvSpPr>
            <p:spPr>
              <a:xfrm>
                <a:off x="2095500" y="0"/>
                <a:ext cx="17145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27B5E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6"/>
              <p:cNvSpPr txBox="1"/>
              <p:nvPr/>
            </p:nvSpPr>
            <p:spPr>
              <a:xfrm>
                <a:off x="2095500" y="0"/>
                <a:ext cx="1714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React + Vite UI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6"/>
              <p:cNvSpPr/>
              <p:nvPr/>
            </p:nvSpPr>
            <p:spPr>
              <a:xfrm>
                <a:off x="1714500" y="200025"/>
                <a:ext cx="3810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1F4C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26"/>
            <p:cNvGrpSpPr/>
            <p:nvPr/>
          </p:nvGrpSpPr>
          <p:grpSpPr>
            <a:xfrm>
              <a:off x="1257300" y="1400175"/>
              <a:ext cx="1714500" cy="400200"/>
              <a:chOff x="0" y="0"/>
              <a:chExt cx="1714500" cy="400200"/>
            </a:xfrm>
          </p:grpSpPr>
          <p:sp>
            <p:nvSpPr>
              <p:cNvPr id="177" name="Google Shape;177;p26"/>
              <p:cNvSpPr/>
              <p:nvPr/>
            </p:nvSpPr>
            <p:spPr>
              <a:xfrm>
                <a:off x="0" y="0"/>
                <a:ext cx="17145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D574D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6"/>
              <p:cNvSpPr txBox="1"/>
              <p:nvPr/>
            </p:nvSpPr>
            <p:spPr>
              <a:xfrm>
                <a:off x="0" y="0"/>
                <a:ext cx="1714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FastAPI Backend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26"/>
            <p:cNvSpPr/>
            <p:nvPr/>
          </p:nvSpPr>
          <p:spPr>
            <a:xfrm>
              <a:off x="2114550" y="1800225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904875" y="1800225"/>
              <a:ext cx="1209600" cy="533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2114550" y="1800225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26"/>
            <p:cNvGrpSpPr/>
            <p:nvPr/>
          </p:nvGrpSpPr>
          <p:grpSpPr>
            <a:xfrm>
              <a:off x="238125" y="2238375"/>
              <a:ext cx="3848100" cy="609600"/>
              <a:chOff x="0" y="0"/>
              <a:chExt cx="3848100" cy="609600"/>
            </a:xfrm>
          </p:grpSpPr>
          <p:sp>
            <p:nvSpPr>
              <p:cNvPr id="183" name="Google Shape;183;p26"/>
              <p:cNvSpPr/>
              <p:nvPr/>
            </p:nvSpPr>
            <p:spPr>
              <a:xfrm>
                <a:off x="0" y="0"/>
                <a:ext cx="11430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8059A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6"/>
              <p:cNvSpPr txBox="1"/>
              <p:nvPr/>
            </p:nvSpPr>
            <p:spPr>
              <a:xfrm>
                <a:off x="0" y="4762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AI MODULES</a:t>
                </a:r>
                <a:endParaRPr sz="8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6"/>
              <p:cNvSpPr txBox="1"/>
              <p:nvPr/>
            </p:nvSpPr>
            <p:spPr>
              <a:xfrm>
                <a:off x="0" y="238125"/>
                <a:ext cx="1143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7625" tIns="0" rIns="47625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94" b="1">
                    <a:solidFill>
                      <a:srgbClr val="EAE0FA"/>
                    </a:solidFill>
                    <a:latin typeface="Arial"/>
                    <a:ea typeface="Arial"/>
                    <a:cs typeface="Arial"/>
                    <a:sym typeface="Arial"/>
                  </a:rPr>
                  <a:t>OCRMRZForensicsFace</a:t>
                </a:r>
                <a:endParaRPr sz="694" b="1">
                  <a:solidFill>
                    <a:srgbClr val="EAE0F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>
                <a:off x="1352550" y="0"/>
                <a:ext cx="11430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EE696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6"/>
              <p:cNvSpPr txBox="1"/>
              <p:nvPr/>
            </p:nvSpPr>
            <p:spPr>
              <a:xfrm>
                <a:off x="1352550" y="0"/>
                <a:ext cx="1143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Risk Engine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6"/>
              <p:cNvSpPr/>
              <p:nvPr/>
            </p:nvSpPr>
            <p:spPr>
              <a:xfrm>
                <a:off x="2705100" y="0"/>
                <a:ext cx="11430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4AC28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6"/>
              <p:cNvSpPr txBox="1"/>
              <p:nvPr/>
            </p:nvSpPr>
            <p:spPr>
              <a:xfrm>
                <a:off x="2705100" y="0"/>
                <a:ext cx="1143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PostgreSQL</a:t>
                </a:r>
                <a:r>
                  <a:rPr lang="en-GB" sz="80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+ Audit Log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" name="Google Shape;190;p26"/>
            <p:cNvSpPr/>
            <p:nvPr/>
          </p:nvSpPr>
          <p:spPr>
            <a:xfrm>
              <a:off x="809625" y="2847975"/>
              <a:ext cx="1305000" cy="438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1924050" y="2847975"/>
              <a:ext cx="190500" cy="438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2114550" y="2847975"/>
              <a:ext cx="1162200" cy="438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1F4C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" name="Google Shape;193;p26"/>
            <p:cNvGrpSpPr/>
            <p:nvPr/>
          </p:nvGrpSpPr>
          <p:grpSpPr>
            <a:xfrm>
              <a:off x="971550" y="3095625"/>
              <a:ext cx="2286000" cy="438300"/>
              <a:chOff x="0" y="0"/>
              <a:chExt cx="2286000" cy="438300"/>
            </a:xfrm>
          </p:grpSpPr>
          <p:sp>
            <p:nvSpPr>
              <p:cNvPr id="194" name="Google Shape;194;p26"/>
              <p:cNvSpPr/>
              <p:nvPr/>
            </p:nvSpPr>
            <p:spPr>
              <a:xfrm>
                <a:off x="0" y="0"/>
                <a:ext cx="2286000" cy="438300"/>
              </a:xfrm>
              <a:prstGeom prst="roundRect">
                <a:avLst>
                  <a:gd name="adj" fmla="val 17391"/>
                </a:avLst>
              </a:prstGeom>
              <a:solidFill>
                <a:srgbClr val="1F4C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6"/>
              <p:cNvSpPr txBox="1"/>
              <p:nvPr/>
            </p:nvSpPr>
            <p:spPr>
              <a:xfrm>
                <a:off x="0" y="0"/>
                <a:ext cx="2286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Decision + Explainable</a:t>
                </a:r>
                <a:r>
                  <a:rPr lang="en-GB" sz="850" b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Risk Dashboard</a:t>
                </a:r>
                <a:endParaRPr sz="9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6" name="Google Shape;196;p26"/>
          <p:cNvSpPr txBox="1">
            <a:spLocks noGrp="1"/>
          </p:cNvSpPr>
          <p:nvPr>
            <p:ph type="title"/>
          </p:nvPr>
        </p:nvSpPr>
        <p:spPr>
          <a:xfrm>
            <a:off x="137249" y="-4780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700" b="1" dirty="0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dirty="0"/>
          </a:p>
        </p:txBody>
      </p:sp>
      <p:cxnSp>
        <p:nvCxnSpPr>
          <p:cNvPr id="197" name="Google Shape;197;p26"/>
          <p:cNvCxnSpPr>
            <a:stCxn id="172" idx="2"/>
            <a:endCxn id="178" idx="0"/>
          </p:cNvCxnSpPr>
          <p:nvPr/>
        </p:nvCxnSpPr>
        <p:spPr>
          <a:xfrm>
            <a:off x="5715000" y="1828950"/>
            <a:ext cx="1019100" cy="47610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B9B233A-918D-62EF-497E-3FCB2B9E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/>
          <p:nvPr/>
        </p:nvSpPr>
        <p:spPr>
          <a:xfrm>
            <a:off x="0" y="4765697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GB">
                <a:solidFill>
                  <a:schemeClr val="lt1"/>
                </a:solidFill>
              </a:rPr>
              <a:t>VERIFAI - Explainable AI-Powered Risk Screening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" name="Google Shape;207;p27" descr="Your startup LOGO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635964" y="708652"/>
            <a:ext cx="377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sng" strike="noStrike" cap="none" dirty="0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METHODOLOGY &amp; PROCESS</a:t>
            </a:r>
            <a:endParaRPr sz="1100" dirty="0"/>
          </a:p>
        </p:txBody>
      </p:sp>
      <p:sp>
        <p:nvSpPr>
          <p:cNvPr id="210" name="Google Shape;210;p27"/>
          <p:cNvSpPr/>
          <p:nvPr/>
        </p:nvSpPr>
        <p:spPr>
          <a:xfrm>
            <a:off x="2685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F69A4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728046" y="1051552"/>
            <a:ext cx="411600" cy="411600"/>
          </a:xfrm>
          <a:prstGeom prst="ellipse">
            <a:avLst/>
          </a:prstGeom>
          <a:solidFill>
            <a:srgbClr val="F69A42"/>
          </a:solidFill>
          <a:ln w="9525" cap="flat" cmpd="sng">
            <a:solidFill>
              <a:srgbClr val="F69A4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728046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13" name="Google Shape;213;p27"/>
          <p:cNvSpPr txBox="1"/>
          <p:nvPr/>
        </p:nvSpPr>
        <p:spPr>
          <a:xfrm>
            <a:off x="337140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INTAKE</a:t>
            </a:r>
            <a:endParaRPr sz="1100"/>
          </a:p>
        </p:txBody>
      </p:sp>
      <p:sp>
        <p:nvSpPr>
          <p:cNvPr id="214" name="Google Shape;214;p27"/>
          <p:cNvSpPr txBox="1"/>
          <p:nvPr/>
        </p:nvSpPr>
        <p:spPr>
          <a:xfrm>
            <a:off x="350856" y="1716778"/>
            <a:ext cx="11727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Document + probe photo</a:t>
            </a:r>
            <a:endParaRPr sz="1100"/>
          </a:p>
        </p:txBody>
      </p:sp>
      <p:cxnSp>
        <p:nvCxnSpPr>
          <p:cNvPr id="215" name="Google Shape;215;p27"/>
          <p:cNvCxnSpPr/>
          <p:nvPr/>
        </p:nvCxnSpPr>
        <p:spPr>
          <a:xfrm>
            <a:off x="1605870" y="1504180"/>
            <a:ext cx="137100" cy="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16" name="Google Shape;216;p27"/>
          <p:cNvSpPr/>
          <p:nvPr/>
        </p:nvSpPr>
        <p:spPr>
          <a:xfrm>
            <a:off x="17224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27B5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2181942" y="1051552"/>
            <a:ext cx="411600" cy="411600"/>
          </a:xfrm>
          <a:prstGeom prst="ellipse">
            <a:avLst/>
          </a:prstGeom>
          <a:solidFill>
            <a:srgbClr val="27B5E2"/>
          </a:solidFill>
          <a:ln w="9525" cap="flat" cmpd="sng">
            <a:solidFill>
              <a:srgbClr val="27B5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2181942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19" name="Google Shape;219;p27"/>
          <p:cNvSpPr txBox="1"/>
          <p:nvPr/>
        </p:nvSpPr>
        <p:spPr>
          <a:xfrm>
            <a:off x="1791036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endParaRPr sz="1100"/>
          </a:p>
        </p:txBody>
      </p:sp>
      <p:sp>
        <p:nvSpPr>
          <p:cNvPr id="220" name="Google Shape;220;p27"/>
          <p:cNvSpPr txBox="1"/>
          <p:nvPr/>
        </p:nvSpPr>
        <p:spPr>
          <a:xfrm>
            <a:off x="1804752" y="1716778"/>
            <a:ext cx="11727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OCR + MRZ parsing</a:t>
            </a:r>
            <a:endParaRPr sz="1100"/>
          </a:p>
        </p:txBody>
      </p:sp>
      <p:cxnSp>
        <p:nvCxnSpPr>
          <p:cNvPr id="221" name="Google Shape;221;p27"/>
          <p:cNvCxnSpPr/>
          <p:nvPr/>
        </p:nvCxnSpPr>
        <p:spPr>
          <a:xfrm>
            <a:off x="3059766" y="1504180"/>
            <a:ext cx="137100" cy="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22" name="Google Shape;222;p27"/>
          <p:cNvSpPr/>
          <p:nvPr/>
        </p:nvSpPr>
        <p:spPr>
          <a:xfrm>
            <a:off x="31763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8059A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3635838" y="1051552"/>
            <a:ext cx="411600" cy="411600"/>
          </a:xfrm>
          <a:prstGeom prst="ellipse">
            <a:avLst/>
          </a:prstGeom>
          <a:solidFill>
            <a:srgbClr val="8059A8"/>
          </a:solidFill>
          <a:ln w="9525" cap="flat" cmpd="sng">
            <a:solidFill>
              <a:srgbClr val="8059A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3635838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25" name="Google Shape;225;p27"/>
          <p:cNvSpPr txBox="1"/>
          <p:nvPr/>
        </p:nvSpPr>
        <p:spPr>
          <a:xfrm>
            <a:off x="3244932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FORENSICS</a:t>
            </a:r>
            <a:endParaRPr sz="1100"/>
          </a:p>
        </p:txBody>
      </p:sp>
      <p:sp>
        <p:nvSpPr>
          <p:cNvPr id="226" name="Google Shape;226;p27"/>
          <p:cNvSpPr txBox="1"/>
          <p:nvPr/>
        </p:nvSpPr>
        <p:spPr>
          <a:xfrm>
            <a:off x="3258648" y="1716778"/>
            <a:ext cx="11727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ELA + noise analysis</a:t>
            </a:r>
            <a:endParaRPr sz="1100"/>
          </a:p>
        </p:txBody>
      </p:sp>
      <p:cxnSp>
        <p:nvCxnSpPr>
          <p:cNvPr id="227" name="Google Shape;227;p27"/>
          <p:cNvCxnSpPr/>
          <p:nvPr/>
        </p:nvCxnSpPr>
        <p:spPr>
          <a:xfrm>
            <a:off x="4513662" y="1504180"/>
            <a:ext cx="137100" cy="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28" name="Google Shape;228;p27"/>
          <p:cNvSpPr/>
          <p:nvPr/>
        </p:nvSpPr>
        <p:spPr>
          <a:xfrm>
            <a:off x="46302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D574D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5089734" y="1051552"/>
            <a:ext cx="411600" cy="411600"/>
          </a:xfrm>
          <a:prstGeom prst="ellipse">
            <a:avLst/>
          </a:prstGeom>
          <a:solidFill>
            <a:srgbClr val="D574D3"/>
          </a:solidFill>
          <a:ln w="9525" cap="flat" cmpd="sng">
            <a:solidFill>
              <a:srgbClr val="D574D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5089734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31" name="Google Shape;231;p27"/>
          <p:cNvSpPr txBox="1"/>
          <p:nvPr/>
        </p:nvSpPr>
        <p:spPr>
          <a:xfrm>
            <a:off x="4698828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 sz="1100"/>
          </a:p>
        </p:txBody>
      </p:sp>
      <p:sp>
        <p:nvSpPr>
          <p:cNvPr id="232" name="Google Shape;232;p27"/>
          <p:cNvSpPr txBox="1"/>
          <p:nvPr/>
        </p:nvSpPr>
        <p:spPr>
          <a:xfrm>
            <a:off x="4712544" y="1716778"/>
            <a:ext cx="11727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Face match + consistency</a:t>
            </a:r>
            <a:endParaRPr sz="1100"/>
          </a:p>
        </p:txBody>
      </p:sp>
      <p:cxnSp>
        <p:nvCxnSpPr>
          <p:cNvPr id="233" name="Google Shape;233;p27"/>
          <p:cNvCxnSpPr/>
          <p:nvPr/>
        </p:nvCxnSpPr>
        <p:spPr>
          <a:xfrm>
            <a:off x="5967558" y="1504180"/>
            <a:ext cx="137100" cy="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34" name="Google Shape;234;p27"/>
          <p:cNvSpPr/>
          <p:nvPr/>
        </p:nvSpPr>
        <p:spPr>
          <a:xfrm>
            <a:off x="60841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EE696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6543630" y="1051552"/>
            <a:ext cx="411600" cy="411600"/>
          </a:xfrm>
          <a:prstGeom prst="ellipse">
            <a:avLst/>
          </a:prstGeom>
          <a:solidFill>
            <a:srgbClr val="EE6969"/>
          </a:solidFill>
          <a:ln w="9525" cap="flat" cmpd="sng">
            <a:solidFill>
              <a:srgbClr val="EE696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6543630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237" name="Google Shape;237;p27"/>
          <p:cNvSpPr txBox="1"/>
          <p:nvPr/>
        </p:nvSpPr>
        <p:spPr>
          <a:xfrm>
            <a:off x="6152723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100"/>
          </a:p>
        </p:txBody>
      </p:sp>
      <p:sp>
        <p:nvSpPr>
          <p:cNvPr id="238" name="Google Shape;238;p27"/>
          <p:cNvSpPr txBox="1"/>
          <p:nvPr/>
        </p:nvSpPr>
        <p:spPr>
          <a:xfrm>
            <a:off x="6166439" y="1716778"/>
            <a:ext cx="11727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Rule-based 0–100 score</a:t>
            </a:r>
            <a:endParaRPr sz="1100"/>
          </a:p>
        </p:txBody>
      </p:sp>
      <p:cxnSp>
        <p:nvCxnSpPr>
          <p:cNvPr id="239" name="Google Shape;239;p27"/>
          <p:cNvCxnSpPr/>
          <p:nvPr/>
        </p:nvCxnSpPr>
        <p:spPr>
          <a:xfrm>
            <a:off x="7421454" y="1504180"/>
            <a:ext cx="137100" cy="0"/>
          </a:xfrm>
          <a:prstGeom prst="straightConnector1">
            <a:avLst/>
          </a:prstGeom>
          <a:noFill/>
          <a:ln w="19050" cap="flat" cmpd="sng">
            <a:solidFill>
              <a:srgbClr val="1F4C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40" name="Google Shape;240;p27"/>
          <p:cNvSpPr/>
          <p:nvPr/>
        </p:nvSpPr>
        <p:spPr>
          <a:xfrm>
            <a:off x="7538050" y="1099549"/>
            <a:ext cx="1337400" cy="90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4AC28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7997526" y="1051552"/>
            <a:ext cx="411600" cy="411600"/>
          </a:xfrm>
          <a:prstGeom prst="ellipse">
            <a:avLst/>
          </a:prstGeom>
          <a:solidFill>
            <a:srgbClr val="4AC287"/>
          </a:solidFill>
          <a:ln w="9525" cap="flat" cmpd="sng">
            <a:solidFill>
              <a:srgbClr val="4AC28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7997526" y="1140706"/>
            <a:ext cx="411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243" name="Google Shape;243;p27"/>
          <p:cNvSpPr txBox="1"/>
          <p:nvPr/>
        </p:nvSpPr>
        <p:spPr>
          <a:xfrm>
            <a:off x="7606620" y="1517896"/>
            <a:ext cx="120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endParaRPr sz="1100"/>
          </a:p>
        </p:txBody>
      </p:sp>
      <p:sp>
        <p:nvSpPr>
          <p:cNvPr id="244" name="Google Shape;244;p27"/>
          <p:cNvSpPr txBox="1"/>
          <p:nvPr/>
        </p:nvSpPr>
        <p:spPr>
          <a:xfrm>
            <a:off x="7620336" y="1716778"/>
            <a:ext cx="1172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Explainable dashboard + decision</a:t>
            </a:r>
            <a:endParaRPr sz="1100"/>
          </a:p>
        </p:txBody>
      </p:sp>
      <p:sp>
        <p:nvSpPr>
          <p:cNvPr id="245" name="Google Shape;245;p27"/>
          <p:cNvSpPr txBox="1"/>
          <p:nvPr/>
        </p:nvSpPr>
        <p:spPr>
          <a:xfrm>
            <a:off x="337140" y="2162548"/>
            <a:ext cx="377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sng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TECHNOLOGIES USED</a:t>
            </a:r>
            <a:endParaRPr sz="1100"/>
          </a:p>
        </p:txBody>
      </p:sp>
      <p:sp>
        <p:nvSpPr>
          <p:cNvPr id="246" name="Google Shape;246;p27"/>
          <p:cNvSpPr txBox="1"/>
          <p:nvPr/>
        </p:nvSpPr>
        <p:spPr>
          <a:xfrm>
            <a:off x="268560" y="2539738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 sz="1100"/>
          </a:p>
        </p:txBody>
      </p:sp>
      <p:sp>
        <p:nvSpPr>
          <p:cNvPr id="247" name="Google Shape;247;p27"/>
          <p:cNvSpPr txBox="1"/>
          <p:nvPr/>
        </p:nvSpPr>
        <p:spPr>
          <a:xfrm>
            <a:off x="268560" y="2800342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+ FastAPI REST</a:t>
            </a:r>
            <a:endParaRPr sz="1100"/>
          </a:p>
        </p:txBody>
      </p:sp>
      <p:sp>
        <p:nvSpPr>
          <p:cNvPr id="248" name="Google Shape;248;p27"/>
          <p:cNvSpPr txBox="1"/>
          <p:nvPr/>
        </p:nvSpPr>
        <p:spPr>
          <a:xfrm>
            <a:off x="268560" y="3060946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100"/>
          </a:p>
        </p:txBody>
      </p:sp>
      <p:sp>
        <p:nvSpPr>
          <p:cNvPr id="249" name="Google Shape;249;p27"/>
          <p:cNvSpPr txBox="1"/>
          <p:nvPr/>
        </p:nvSpPr>
        <p:spPr>
          <a:xfrm>
            <a:off x="268560" y="3321550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/ MRZ: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PaddleOCR + ICAO checksum validation</a:t>
            </a:r>
            <a:endParaRPr sz="1100"/>
          </a:p>
        </p:txBody>
      </p:sp>
      <p:sp>
        <p:nvSpPr>
          <p:cNvPr id="250" name="Google Shape;250;p27"/>
          <p:cNvSpPr txBox="1"/>
          <p:nvPr/>
        </p:nvSpPr>
        <p:spPr>
          <a:xfrm>
            <a:off x="268560" y="3582154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Forensics: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 + noise inconsistency analysis</a:t>
            </a:r>
            <a:endParaRPr sz="1100"/>
          </a:p>
        </p:txBody>
      </p:sp>
      <p:sp>
        <p:nvSpPr>
          <p:cNvPr id="251" name="Google Shape;251;p27"/>
          <p:cNvSpPr txBox="1"/>
          <p:nvPr/>
        </p:nvSpPr>
        <p:spPr>
          <a:xfrm>
            <a:off x="268560" y="3842758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 Verification: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Document-photo vs probe-photo comparison</a:t>
            </a:r>
            <a:endParaRPr sz="1100"/>
          </a:p>
        </p:txBody>
      </p:sp>
      <p:sp>
        <p:nvSpPr>
          <p:cNvPr id="252" name="Google Shape;252;p27"/>
          <p:cNvSpPr txBox="1"/>
          <p:nvPr/>
        </p:nvSpPr>
        <p:spPr>
          <a:xfrm>
            <a:off x="268560" y="4103362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/ Docker Compose</a:t>
            </a:r>
            <a:endParaRPr sz="1100"/>
          </a:p>
        </p:txBody>
      </p:sp>
      <p:sp>
        <p:nvSpPr>
          <p:cNvPr id="253" name="Google Shape;253;p27"/>
          <p:cNvSpPr txBox="1"/>
          <p:nvPr/>
        </p:nvSpPr>
        <p:spPr>
          <a:xfrm>
            <a:off x="268560" y="4363966"/>
            <a:ext cx="397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Testing: </a:t>
            </a: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Pytest</a:t>
            </a:r>
            <a:endParaRPr sz="1100"/>
          </a:p>
        </p:txBody>
      </p:sp>
      <p:sp>
        <p:nvSpPr>
          <p:cNvPr id="254" name="Google Shape;254;p27"/>
          <p:cNvSpPr txBox="1"/>
          <p:nvPr/>
        </p:nvSpPr>
        <p:spPr>
          <a:xfrm>
            <a:off x="4794840" y="2162548"/>
            <a:ext cx="3840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sng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HOW THE SYSTEM WORKS</a:t>
            </a:r>
            <a:endParaRPr sz="1100"/>
          </a:p>
        </p:txBody>
      </p:sp>
      <p:sp>
        <p:nvSpPr>
          <p:cNvPr id="255" name="Google Shape;255;p27"/>
          <p:cNvSpPr/>
          <p:nvPr/>
        </p:nvSpPr>
        <p:spPr>
          <a:xfrm>
            <a:off x="4883994" y="2519164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4952574" y="258088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57" name="Google Shape;257;p27"/>
          <p:cNvSpPr txBox="1"/>
          <p:nvPr/>
        </p:nvSpPr>
        <p:spPr>
          <a:xfrm>
            <a:off x="5206320" y="256717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sz="1100"/>
          </a:p>
        </p:txBody>
      </p:sp>
      <p:sp>
        <p:nvSpPr>
          <p:cNvPr id="258" name="Google Shape;258;p27"/>
          <p:cNvSpPr txBox="1"/>
          <p:nvPr/>
        </p:nvSpPr>
        <p:spPr>
          <a:xfrm>
            <a:off x="5857830" y="2553454"/>
            <a:ext cx="2571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 dirty="0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Officer uploads the document and probe image.</a:t>
            </a:r>
            <a:endParaRPr sz="1100" dirty="0"/>
          </a:p>
        </p:txBody>
      </p:sp>
      <p:sp>
        <p:nvSpPr>
          <p:cNvPr id="259" name="Google Shape;259;p27"/>
          <p:cNvSpPr/>
          <p:nvPr/>
        </p:nvSpPr>
        <p:spPr>
          <a:xfrm>
            <a:off x="4883994" y="2889496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4952574" y="2951218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61" name="Google Shape;261;p27"/>
          <p:cNvSpPr txBox="1"/>
          <p:nvPr/>
        </p:nvSpPr>
        <p:spPr>
          <a:xfrm>
            <a:off x="5206320" y="2937502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1100"/>
          </a:p>
        </p:txBody>
      </p:sp>
      <p:sp>
        <p:nvSpPr>
          <p:cNvPr id="262" name="Google Shape;262;p27"/>
          <p:cNvSpPr txBox="1"/>
          <p:nvPr/>
        </p:nvSpPr>
        <p:spPr>
          <a:xfrm>
            <a:off x="5857830" y="2923786"/>
            <a:ext cx="2571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OCR converts the document image into structured fields; MRZ is parsed and checksummed.</a:t>
            </a:r>
            <a:endParaRPr sz="1100"/>
          </a:p>
        </p:txBody>
      </p:sp>
      <p:sp>
        <p:nvSpPr>
          <p:cNvPr id="263" name="Google Shape;263;p27"/>
          <p:cNvSpPr/>
          <p:nvPr/>
        </p:nvSpPr>
        <p:spPr>
          <a:xfrm>
            <a:off x="4883994" y="3259828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4952574" y="3321550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65" name="Google Shape;265;p27"/>
          <p:cNvSpPr txBox="1"/>
          <p:nvPr/>
        </p:nvSpPr>
        <p:spPr>
          <a:xfrm>
            <a:off x="5206320" y="3307834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sz="1100"/>
          </a:p>
        </p:txBody>
      </p:sp>
      <p:sp>
        <p:nvSpPr>
          <p:cNvPr id="266" name="Google Shape;266;p27"/>
          <p:cNvSpPr txBox="1"/>
          <p:nvPr/>
        </p:nvSpPr>
        <p:spPr>
          <a:xfrm>
            <a:off x="5857830" y="3294118"/>
            <a:ext cx="2571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Forensics checks ELA/noise anomalies while face verification checks identity consistency.</a:t>
            </a:r>
            <a:endParaRPr sz="1100"/>
          </a:p>
        </p:txBody>
      </p:sp>
      <p:sp>
        <p:nvSpPr>
          <p:cNvPr id="267" name="Google Shape;267;p27"/>
          <p:cNvSpPr/>
          <p:nvPr/>
        </p:nvSpPr>
        <p:spPr>
          <a:xfrm>
            <a:off x="4883994" y="3630160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4952574" y="3691882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69" name="Google Shape;269;p27"/>
          <p:cNvSpPr txBox="1"/>
          <p:nvPr/>
        </p:nvSpPr>
        <p:spPr>
          <a:xfrm>
            <a:off x="5206320" y="3678166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Assess</a:t>
            </a:r>
            <a:endParaRPr sz="1100"/>
          </a:p>
        </p:txBody>
      </p:sp>
      <p:sp>
        <p:nvSpPr>
          <p:cNvPr id="270" name="Google Shape;270;p27"/>
          <p:cNvSpPr txBox="1"/>
          <p:nvPr/>
        </p:nvSpPr>
        <p:spPr>
          <a:xfrm>
            <a:off x="5857830" y="3664450"/>
            <a:ext cx="2571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The deterministic risk engine combines module outputs and chronology/consistency checks.</a:t>
            </a:r>
            <a:endParaRPr sz="1100"/>
          </a:p>
        </p:txBody>
      </p:sp>
      <p:sp>
        <p:nvSpPr>
          <p:cNvPr id="271" name="Google Shape;271;p27"/>
          <p:cNvSpPr/>
          <p:nvPr/>
        </p:nvSpPr>
        <p:spPr>
          <a:xfrm>
            <a:off x="4883994" y="4000492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4952574" y="4062214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273" name="Google Shape;273;p27"/>
          <p:cNvSpPr txBox="1"/>
          <p:nvPr/>
        </p:nvSpPr>
        <p:spPr>
          <a:xfrm>
            <a:off x="5206320" y="4048498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1100"/>
          </a:p>
        </p:txBody>
      </p:sp>
      <p:sp>
        <p:nvSpPr>
          <p:cNvPr id="274" name="Google Shape;274;p27"/>
          <p:cNvSpPr txBox="1"/>
          <p:nvPr/>
        </p:nvSpPr>
        <p:spPr>
          <a:xfrm>
            <a:off x="5857830" y="4034782"/>
            <a:ext cx="2571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Risk signals are shown with evidence so the officer can understand why a case was flagged.</a:t>
            </a:r>
            <a:endParaRPr sz="1100"/>
          </a:p>
        </p:txBody>
      </p:sp>
      <p:sp>
        <p:nvSpPr>
          <p:cNvPr id="275" name="Google Shape;275;p27"/>
          <p:cNvSpPr/>
          <p:nvPr/>
        </p:nvSpPr>
        <p:spPr>
          <a:xfrm>
            <a:off x="4883994" y="4370824"/>
            <a:ext cx="3669000" cy="329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CDEE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4952574" y="4432546"/>
            <a:ext cx="20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277" name="Google Shape;277;p27"/>
          <p:cNvSpPr txBox="1"/>
          <p:nvPr/>
        </p:nvSpPr>
        <p:spPr>
          <a:xfrm>
            <a:off x="5206320" y="441883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 sz="1100"/>
          </a:p>
        </p:txBody>
      </p:sp>
      <p:sp>
        <p:nvSpPr>
          <p:cNvPr id="278" name="Google Shape;278;p27"/>
          <p:cNvSpPr txBox="1"/>
          <p:nvPr/>
        </p:nvSpPr>
        <p:spPr>
          <a:xfrm>
            <a:off x="5857830" y="4405114"/>
            <a:ext cx="2571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Authorized officer makes the final decision; actions are retained for audit/accountability.</a:t>
            </a:r>
            <a:endParaRPr sz="11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DB538-D456-29C0-D36B-C1BEF42A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 txBox="1">
            <a:spLocks noGrp="1"/>
          </p:cNvSpPr>
          <p:nvPr>
            <p:ph type="title"/>
          </p:nvPr>
        </p:nvSpPr>
        <p:spPr>
          <a:xfrm>
            <a:off x="457200" y="95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F4C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400" b="1">
              <a:solidFill>
                <a:srgbClr val="1F4C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7" name="Google Shape;287;p28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swald"/>
              <a:buNone/>
            </a:pPr>
            <a:r>
              <a:rPr lang="en-GB">
                <a:solidFill>
                  <a:schemeClr val="lt1"/>
                </a:solidFill>
              </a:rPr>
              <a:t>VERIFAI - Explainable AI-Powered Risk Screening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28" descr="Your startup LOGO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p28"/>
          <p:cNvGrpSpPr/>
          <p:nvPr/>
        </p:nvGrpSpPr>
        <p:grpSpPr>
          <a:xfrm>
            <a:off x="381000" y="809625"/>
            <a:ext cx="8382000" cy="3810150"/>
            <a:chOff x="381000" y="809625"/>
            <a:chExt cx="8382000" cy="3810150"/>
          </a:xfrm>
        </p:grpSpPr>
        <p:grpSp>
          <p:nvGrpSpPr>
            <p:cNvPr id="291" name="Google Shape;291;p28"/>
            <p:cNvGrpSpPr/>
            <p:nvPr/>
          </p:nvGrpSpPr>
          <p:grpSpPr>
            <a:xfrm>
              <a:off x="381000" y="809625"/>
              <a:ext cx="4000500" cy="285900"/>
              <a:chOff x="0" y="0"/>
              <a:chExt cx="4000500" cy="285900"/>
            </a:xfrm>
          </p:grpSpPr>
          <p:sp>
            <p:nvSpPr>
              <p:cNvPr id="292" name="Google Shape;292;p28"/>
              <p:cNvSpPr/>
              <p:nvPr/>
            </p:nvSpPr>
            <p:spPr>
              <a:xfrm>
                <a:off x="0" y="0"/>
                <a:ext cx="4000500" cy="285900"/>
              </a:xfrm>
              <a:prstGeom prst="roundRect">
                <a:avLst>
                  <a:gd name="adj" fmla="val 13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8"/>
              <p:cNvSpPr txBox="1"/>
              <p:nvPr/>
            </p:nvSpPr>
            <p:spPr>
              <a:xfrm>
                <a:off x="0" y="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SOME CHALLENGES</a:t>
                </a:r>
                <a:endParaRPr sz="11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28"/>
            <p:cNvGrpSpPr/>
            <p:nvPr/>
          </p:nvGrpSpPr>
          <p:grpSpPr>
            <a:xfrm>
              <a:off x="381000" y="1190625"/>
              <a:ext cx="4000500" cy="647700"/>
              <a:chOff x="0" y="0"/>
              <a:chExt cx="4000500" cy="647700"/>
            </a:xfrm>
          </p:grpSpPr>
          <p:sp>
            <p:nvSpPr>
              <p:cNvPr id="295" name="Google Shape;295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Image quality &amp; OCR errors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Low-resolution or noisy documents can reduce quality.</a:t>
                </a:r>
                <a:endParaRPr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→ Preprocessing + confidence values + cross-checking OCR with MRZ.</a:t>
                </a:r>
                <a:endParaRPr sz="850" b="1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p28"/>
            <p:cNvGrpSpPr/>
            <p:nvPr/>
          </p:nvGrpSpPr>
          <p:grpSpPr>
            <a:xfrm>
              <a:off x="381000" y="1914525"/>
              <a:ext cx="4000500" cy="647700"/>
              <a:chOff x="0" y="0"/>
              <a:chExt cx="4000500" cy="647700"/>
            </a:xfrm>
          </p:grpSpPr>
          <p:sp>
            <p:nvSpPr>
              <p:cNvPr id="299" name="Google Shape;299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Sophisticated tampering</a:t>
                </a:r>
                <a:endParaRPr sz="1018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86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 single detector may miss subtle or novel manipulations.</a:t>
                </a:r>
                <a:endParaRPr sz="786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86" b="1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→ Use independent signals: ELA/noise, MRZ checks and face verification.</a:t>
                </a:r>
                <a:endParaRPr sz="786" b="1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p28"/>
            <p:cNvGrpSpPr/>
            <p:nvPr/>
          </p:nvGrpSpPr>
          <p:grpSpPr>
            <a:xfrm>
              <a:off x="381000" y="2638425"/>
              <a:ext cx="4000500" cy="647700"/>
              <a:chOff x="0" y="0"/>
              <a:chExt cx="4000500" cy="647700"/>
            </a:xfrm>
          </p:grpSpPr>
          <p:sp>
            <p:nvSpPr>
              <p:cNvPr id="303" name="Google Shape;303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False positives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Automated rejection can be risky in security screening.</a:t>
                </a:r>
                <a:endParaRPr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→ Human-in-the-loop review with explainable signals; no auto-reject.</a:t>
                </a:r>
                <a:endParaRPr sz="850" b="1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28"/>
            <p:cNvGrpSpPr/>
            <p:nvPr/>
          </p:nvGrpSpPr>
          <p:grpSpPr>
            <a:xfrm>
              <a:off x="381000" y="3362325"/>
              <a:ext cx="4000500" cy="647700"/>
              <a:chOff x="0" y="0"/>
              <a:chExt cx="4000500" cy="647700"/>
            </a:xfrm>
          </p:grpSpPr>
          <p:sp>
            <p:nvSpPr>
              <p:cNvPr id="307" name="Google Shape;307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Sensitive identity data</a:t>
                </a:r>
                <a:endParaRPr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Passport images require controlled, secure handling.</a:t>
                </a:r>
                <a:endParaRPr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→ Officer-focused access, structured storage and audit logging.</a:t>
                </a:r>
                <a:endParaRPr sz="850" b="1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28"/>
            <p:cNvGrpSpPr/>
            <p:nvPr/>
          </p:nvGrpSpPr>
          <p:grpSpPr>
            <a:xfrm>
              <a:off x="4762500" y="809625"/>
              <a:ext cx="4000500" cy="285900"/>
              <a:chOff x="0" y="0"/>
              <a:chExt cx="4000500" cy="285900"/>
            </a:xfrm>
          </p:grpSpPr>
          <p:sp>
            <p:nvSpPr>
              <p:cNvPr id="311" name="Google Shape;311;p28"/>
              <p:cNvSpPr/>
              <p:nvPr/>
            </p:nvSpPr>
            <p:spPr>
              <a:xfrm>
                <a:off x="0" y="0"/>
                <a:ext cx="4000500" cy="285900"/>
              </a:xfrm>
              <a:prstGeom prst="roundRect">
                <a:avLst>
                  <a:gd name="adj" fmla="val 13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8"/>
              <p:cNvSpPr txBox="1"/>
              <p:nvPr/>
            </p:nvSpPr>
            <p:spPr>
              <a:xfrm>
                <a:off x="0" y="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REASONS FOR SUCCESS</a:t>
                </a:r>
                <a:endParaRPr sz="11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28"/>
            <p:cNvGrpSpPr/>
            <p:nvPr/>
          </p:nvGrpSpPr>
          <p:grpSpPr>
            <a:xfrm>
              <a:off x="4762500" y="1190625"/>
              <a:ext cx="4000500" cy="647700"/>
              <a:chOff x="0" y="0"/>
              <a:chExt cx="4000500" cy="647700"/>
            </a:xfrm>
          </p:grpSpPr>
          <p:sp>
            <p:nvSpPr>
              <p:cNvPr id="314" name="Google Shape;314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F69A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F69A42"/>
                    </a:solidFill>
                    <a:latin typeface="Arial"/>
                    <a:ea typeface="Arial"/>
                    <a:cs typeface="Arial"/>
                    <a:sym typeface="Arial"/>
                  </a:rPr>
                  <a:t>Modular design</a:t>
                </a:r>
                <a:endParaRPr sz="1100" b="1">
                  <a:solidFill>
                    <a:srgbClr val="F69A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Five focused AI modules can be developed, tested and improved independently.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28"/>
            <p:cNvGrpSpPr/>
            <p:nvPr/>
          </p:nvGrpSpPr>
          <p:grpSpPr>
            <a:xfrm>
              <a:off x="4762500" y="1914525"/>
              <a:ext cx="4000500" cy="647700"/>
              <a:chOff x="0" y="0"/>
              <a:chExt cx="4000500" cy="647700"/>
            </a:xfrm>
          </p:grpSpPr>
          <p:sp>
            <p:nvSpPr>
              <p:cNvPr id="318" name="Google Shape;318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27B5E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27B5E2"/>
                    </a:solidFill>
                    <a:latin typeface="Arial"/>
                    <a:ea typeface="Arial"/>
                    <a:cs typeface="Arial"/>
                    <a:sym typeface="Arial"/>
                  </a:rPr>
                  <a:t>Existing implementation</a:t>
                </a:r>
                <a:endParaRPr sz="1100" b="1">
                  <a:solidFill>
                    <a:srgbClr val="27B5E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The repository already contains AI, backend, frontend and testing components.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28"/>
            <p:cNvGrpSpPr/>
            <p:nvPr/>
          </p:nvGrpSpPr>
          <p:grpSpPr>
            <a:xfrm>
              <a:off x="4762500" y="2638425"/>
              <a:ext cx="4000500" cy="647700"/>
              <a:chOff x="0" y="0"/>
              <a:chExt cx="4000500" cy="647700"/>
            </a:xfrm>
          </p:grpSpPr>
          <p:sp>
            <p:nvSpPr>
              <p:cNvPr id="322" name="Google Shape;322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8059A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8059A8"/>
                    </a:solidFill>
                    <a:latin typeface="Arial"/>
                    <a:ea typeface="Arial"/>
                    <a:cs typeface="Arial"/>
                    <a:sym typeface="Arial"/>
                  </a:rPr>
                  <a:t>Explainability by design</a:t>
                </a:r>
                <a:endParaRPr sz="1100" b="1">
                  <a:solidFill>
                    <a:srgbClr val="8059A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Risk signals are stored with direction, magnitude and clear explanations.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p28"/>
            <p:cNvGrpSpPr/>
            <p:nvPr/>
          </p:nvGrpSpPr>
          <p:grpSpPr>
            <a:xfrm>
              <a:off x="4762500" y="3362325"/>
              <a:ext cx="4000500" cy="647700"/>
              <a:chOff x="0" y="0"/>
              <a:chExt cx="4000500" cy="647700"/>
            </a:xfrm>
          </p:grpSpPr>
          <p:sp>
            <p:nvSpPr>
              <p:cNvPr id="326" name="Google Shape;326;p28"/>
              <p:cNvSpPr/>
              <p:nvPr/>
            </p:nvSpPr>
            <p:spPr>
              <a:xfrm>
                <a:off x="0" y="0"/>
                <a:ext cx="4000500" cy="647700"/>
              </a:xfrm>
              <a:prstGeom prst="roundRect">
                <a:avLst>
                  <a:gd name="adj" fmla="val 8823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8"/>
              <p:cNvSpPr/>
              <p:nvPr/>
            </p:nvSpPr>
            <p:spPr>
              <a:xfrm>
                <a:off x="0" y="0"/>
                <a:ext cx="573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4AC28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8"/>
              <p:cNvSpPr txBox="1"/>
              <p:nvPr/>
            </p:nvSpPr>
            <p:spPr>
              <a:xfrm>
                <a:off x="152400" y="57150"/>
                <a:ext cx="37149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b="1">
                    <a:solidFill>
                      <a:srgbClr val="4AC287"/>
                    </a:solidFill>
                    <a:latin typeface="Arial"/>
                    <a:ea typeface="Arial"/>
                    <a:cs typeface="Arial"/>
                    <a:sym typeface="Arial"/>
                  </a:rPr>
                  <a:t>Operational fit</a:t>
                </a:r>
                <a:endParaRPr sz="1100" b="1">
                  <a:solidFill>
                    <a:srgbClr val="4AC28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FastAPI + PostgreSQL + Docker support repeatable deployment &amp; API integration.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28"/>
            <p:cNvGrpSpPr/>
            <p:nvPr/>
          </p:nvGrpSpPr>
          <p:grpSpPr>
            <a:xfrm>
              <a:off x="381000" y="4143375"/>
              <a:ext cx="8382000" cy="476400"/>
              <a:chOff x="0" y="0"/>
              <a:chExt cx="8382000" cy="476400"/>
            </a:xfrm>
          </p:grpSpPr>
          <p:sp>
            <p:nvSpPr>
              <p:cNvPr id="330" name="Google Shape;330;p28"/>
              <p:cNvSpPr/>
              <p:nvPr/>
            </p:nvSpPr>
            <p:spPr>
              <a:xfrm>
                <a:off x="0" y="0"/>
                <a:ext cx="8382000" cy="476400"/>
              </a:xfrm>
              <a:prstGeom prst="roundRect">
                <a:avLst>
                  <a:gd name="adj" fmla="val 12000"/>
                </a:avLst>
              </a:prstGeom>
              <a:solidFill>
                <a:srgbClr val="1F4C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8"/>
              <p:cNvSpPr txBox="1"/>
              <p:nvPr/>
            </p:nvSpPr>
            <p:spPr>
              <a:xfrm>
                <a:off x="0" y="0"/>
                <a:ext cx="838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93C5FD"/>
                    </a:solidFill>
                    <a:latin typeface="Arial"/>
                    <a:ea typeface="Arial"/>
                    <a:cs typeface="Arial"/>
                    <a:sym typeface="Arial"/>
                  </a:rPr>
                  <a:t>VIABILITY PRINCIPLE: </a:t>
                </a:r>
                <a:r>
                  <a:rPr lang="en-GB" sz="12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Assist the officer — do not replace the officer.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781419B-A6D1-DD48-DB35-438537D0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339" name="Google Shape;339;p2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0" name="Google Shape;340;p29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swald"/>
              <a:buNone/>
            </a:pPr>
            <a:r>
              <a:rPr lang="en-GB">
                <a:solidFill>
                  <a:schemeClr val="lt1"/>
                </a:solidFill>
              </a:rPr>
              <a:t>VERIFAI - Explainable AI-Powered Risk Screening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1" name="Google Shape;341;p29" descr="Your startup LOGO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1689457" y="794684"/>
            <a:ext cx="5996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sng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POTENTIAL IMPACT ON THE TARGET</a:t>
            </a:r>
            <a:r>
              <a:rPr lang="en-GB" b="1" u="sng">
                <a:solidFill>
                  <a:srgbClr val="1F4C81"/>
                </a:solidFill>
              </a:rPr>
              <a:t> </a:t>
            </a:r>
            <a:r>
              <a:rPr lang="en-GB" sz="1400" b="1" i="0" u="sng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sz="1100"/>
          </a:p>
        </p:txBody>
      </p:sp>
      <p:sp>
        <p:nvSpPr>
          <p:cNvPr id="344" name="Google Shape;344;p29"/>
          <p:cNvSpPr/>
          <p:nvPr/>
        </p:nvSpPr>
        <p:spPr>
          <a:xfrm>
            <a:off x="308610" y="1191489"/>
            <a:ext cx="2057400" cy="905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F69A4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432054" y="1268470"/>
            <a:ext cx="1810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Border / Immigration Officers</a:t>
            </a:r>
            <a:endParaRPr sz="1200"/>
          </a:p>
        </p:txBody>
      </p:sp>
      <p:sp>
        <p:nvSpPr>
          <p:cNvPr id="346" name="Google Shape;346;p29"/>
          <p:cNvSpPr txBox="1"/>
          <p:nvPr/>
        </p:nvSpPr>
        <p:spPr>
          <a:xfrm>
            <a:off x="432054" y="1589253"/>
            <a:ext cx="1810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Faster triage, consistent risk signals and clear reasons for manual review.</a:t>
            </a:r>
            <a:endParaRPr sz="1300"/>
          </a:p>
        </p:txBody>
      </p:sp>
      <p:sp>
        <p:nvSpPr>
          <p:cNvPr id="347" name="Google Shape;347;p29"/>
          <p:cNvSpPr/>
          <p:nvPr/>
        </p:nvSpPr>
        <p:spPr>
          <a:xfrm>
            <a:off x="2482596" y="1191489"/>
            <a:ext cx="2057400" cy="905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8059A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2606040" y="1268470"/>
            <a:ext cx="1810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&amp; Investigation Teams</a:t>
            </a:r>
            <a:endParaRPr sz="1200"/>
          </a:p>
        </p:txBody>
      </p:sp>
      <p:sp>
        <p:nvSpPr>
          <p:cNvPr id="349" name="Google Shape;349;p29"/>
          <p:cNvSpPr txBox="1"/>
          <p:nvPr/>
        </p:nvSpPr>
        <p:spPr>
          <a:xfrm>
            <a:off x="2606040" y="1589253"/>
            <a:ext cx="1810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Digital evidence trail, repeatable screening and audit-ready case history.</a:t>
            </a:r>
            <a:endParaRPr sz="1300"/>
          </a:p>
        </p:txBody>
      </p:sp>
      <p:sp>
        <p:nvSpPr>
          <p:cNvPr id="350" name="Google Shape;350;p29"/>
          <p:cNvSpPr/>
          <p:nvPr/>
        </p:nvSpPr>
        <p:spPr>
          <a:xfrm>
            <a:off x="4656582" y="1191489"/>
            <a:ext cx="2057400" cy="905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4AC28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780026" y="1268470"/>
            <a:ext cx="1810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Travellers / Genuine Holders</a:t>
            </a:r>
            <a:endParaRPr sz="1200"/>
          </a:p>
        </p:txBody>
      </p:sp>
      <p:sp>
        <p:nvSpPr>
          <p:cNvPr id="352" name="Google Shape;352;p29"/>
          <p:cNvSpPr txBox="1"/>
          <p:nvPr/>
        </p:nvSpPr>
        <p:spPr>
          <a:xfrm>
            <a:off x="4780026" y="1589253"/>
            <a:ext cx="1810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Faster handling of legitimate documents while suspicious cases receive deeper inspection.</a:t>
            </a:r>
            <a:endParaRPr sz="1300"/>
          </a:p>
        </p:txBody>
      </p:sp>
      <p:sp>
        <p:nvSpPr>
          <p:cNvPr id="353" name="Google Shape;353;p29"/>
          <p:cNvSpPr/>
          <p:nvPr/>
        </p:nvSpPr>
        <p:spPr>
          <a:xfrm>
            <a:off x="6830568" y="1191489"/>
            <a:ext cx="2057400" cy="905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>
            <a:solidFill>
              <a:srgbClr val="27B5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6954012" y="1280085"/>
            <a:ext cx="1810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Administrators</a:t>
            </a:r>
            <a:endParaRPr sz="1200"/>
          </a:p>
        </p:txBody>
      </p:sp>
      <p:sp>
        <p:nvSpPr>
          <p:cNvPr id="355" name="Google Shape;355;p29"/>
          <p:cNvSpPr txBox="1"/>
          <p:nvPr/>
        </p:nvSpPr>
        <p:spPr>
          <a:xfrm>
            <a:off x="6954012" y="1589253"/>
            <a:ext cx="1810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API-driven modular system with centralized cases, logs and deployable services.</a:t>
            </a:r>
            <a:endParaRPr sz="1300"/>
          </a:p>
        </p:txBody>
      </p:sp>
      <p:sp>
        <p:nvSpPr>
          <p:cNvPr id="356" name="Google Shape;356;p29"/>
          <p:cNvSpPr txBox="1"/>
          <p:nvPr/>
        </p:nvSpPr>
        <p:spPr>
          <a:xfrm>
            <a:off x="377190" y="2309343"/>
            <a:ext cx="411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sng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BENEFITS OF THE SOLUTION</a:t>
            </a:r>
            <a:endParaRPr sz="1100"/>
          </a:p>
        </p:txBody>
      </p:sp>
      <p:sp>
        <p:nvSpPr>
          <p:cNvPr id="357" name="Google Shape;357;p29"/>
          <p:cNvSpPr/>
          <p:nvPr/>
        </p:nvSpPr>
        <p:spPr>
          <a:xfrm>
            <a:off x="411480" y="2672817"/>
            <a:ext cx="4011900" cy="4251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 cap="flat" cmpd="sng">
            <a:solidFill>
              <a:srgbClr val="E1E2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562356" y="2761970"/>
            <a:ext cx="1062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F69A42"/>
                </a:solidFill>
                <a:latin typeface="Arial"/>
                <a:ea typeface="Arial"/>
                <a:cs typeface="Arial"/>
                <a:sym typeface="Arial"/>
              </a:rPr>
              <a:t>Faster screening</a:t>
            </a:r>
            <a:endParaRPr sz="1100"/>
          </a:p>
        </p:txBody>
      </p:sp>
      <p:sp>
        <p:nvSpPr>
          <p:cNvPr id="359" name="Google Shape;359;p29"/>
          <p:cNvSpPr txBox="1"/>
          <p:nvPr/>
        </p:nvSpPr>
        <p:spPr>
          <a:xfrm>
            <a:off x="1680210" y="2727681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Automates repetitive extraction and cross-checking so officers can focus on high-risk cases.</a:t>
            </a:r>
            <a:endParaRPr sz="1100"/>
          </a:p>
        </p:txBody>
      </p:sp>
      <p:sp>
        <p:nvSpPr>
          <p:cNvPr id="360" name="Google Shape;360;p29"/>
          <p:cNvSpPr/>
          <p:nvPr/>
        </p:nvSpPr>
        <p:spPr>
          <a:xfrm>
            <a:off x="411480" y="3146019"/>
            <a:ext cx="4011900" cy="4251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 cap="flat" cmpd="sng">
            <a:solidFill>
              <a:srgbClr val="E1E2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562356" y="3235173"/>
            <a:ext cx="1062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8059A8"/>
                </a:solidFill>
                <a:latin typeface="Arial"/>
                <a:ea typeface="Arial"/>
                <a:cs typeface="Arial"/>
                <a:sym typeface="Arial"/>
              </a:rPr>
              <a:t>Better fraud detection</a:t>
            </a:r>
            <a:endParaRPr sz="1100"/>
          </a:p>
        </p:txBody>
      </p:sp>
      <p:sp>
        <p:nvSpPr>
          <p:cNvPr id="362" name="Google Shape;362;p29"/>
          <p:cNvSpPr txBox="1"/>
          <p:nvPr/>
        </p:nvSpPr>
        <p:spPr>
          <a:xfrm>
            <a:off x="1680210" y="3200883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Combines document, image and identity signals to surface suspicious inconsistencies.</a:t>
            </a:r>
            <a:endParaRPr sz="1100"/>
          </a:p>
        </p:txBody>
      </p:sp>
      <p:sp>
        <p:nvSpPr>
          <p:cNvPr id="363" name="Google Shape;363;p29"/>
          <p:cNvSpPr/>
          <p:nvPr/>
        </p:nvSpPr>
        <p:spPr>
          <a:xfrm>
            <a:off x="411480" y="3619221"/>
            <a:ext cx="4011900" cy="4251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 cap="flat" cmpd="sng">
            <a:solidFill>
              <a:srgbClr val="E1E2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562356" y="3708375"/>
            <a:ext cx="1062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4AC287"/>
                </a:solidFill>
                <a:latin typeface="Arial"/>
                <a:ea typeface="Arial"/>
                <a:cs typeface="Arial"/>
                <a:sym typeface="Arial"/>
              </a:rPr>
              <a:t>Explainable decisions</a:t>
            </a:r>
            <a:endParaRPr sz="1100"/>
          </a:p>
        </p:txBody>
      </p:sp>
      <p:sp>
        <p:nvSpPr>
          <p:cNvPr id="365" name="Google Shape;365;p29"/>
          <p:cNvSpPr txBox="1"/>
          <p:nvPr/>
        </p:nvSpPr>
        <p:spPr>
          <a:xfrm>
            <a:off x="1680210" y="3674085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Every important flag can be presented as an evidence-backed risk signal.</a:t>
            </a:r>
            <a:endParaRPr sz="1100"/>
          </a:p>
        </p:txBody>
      </p:sp>
      <p:sp>
        <p:nvSpPr>
          <p:cNvPr id="366" name="Google Shape;366;p29"/>
          <p:cNvSpPr/>
          <p:nvPr/>
        </p:nvSpPr>
        <p:spPr>
          <a:xfrm>
            <a:off x="411480" y="4092423"/>
            <a:ext cx="4011900" cy="4251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 cap="flat" cmpd="sng">
            <a:solidFill>
              <a:srgbClr val="E1E2E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562356" y="4181577"/>
            <a:ext cx="1062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rgbClr val="27B5E2"/>
                </a:solidFill>
                <a:latin typeface="Arial"/>
                <a:ea typeface="Arial"/>
                <a:cs typeface="Arial"/>
                <a:sym typeface="Arial"/>
              </a:rPr>
              <a:t>Accountability</a:t>
            </a:r>
            <a:endParaRPr sz="1100"/>
          </a:p>
        </p:txBody>
      </p:sp>
      <p:sp>
        <p:nvSpPr>
          <p:cNvPr id="368" name="Google Shape;368;p29"/>
          <p:cNvSpPr txBox="1"/>
          <p:nvPr/>
        </p:nvSpPr>
        <p:spPr>
          <a:xfrm>
            <a:off x="1680210" y="4147287"/>
            <a:ext cx="2551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Human decisions and system actions can be logged for later review and investigation.</a:t>
            </a:r>
            <a:endParaRPr sz="1100"/>
          </a:p>
        </p:txBody>
      </p:sp>
      <p:sp>
        <p:nvSpPr>
          <p:cNvPr id="369" name="Google Shape;369;p29"/>
          <p:cNvSpPr/>
          <p:nvPr/>
        </p:nvSpPr>
        <p:spPr>
          <a:xfrm>
            <a:off x="4834890" y="2309343"/>
            <a:ext cx="3874800" cy="21261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 cap="flat" cmpd="sng">
            <a:solidFill>
              <a:srgbClr val="D7D9D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5006340" y="2549373"/>
            <a:ext cx="6858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sz="1100"/>
          </a:p>
        </p:txBody>
      </p:sp>
      <p:sp>
        <p:nvSpPr>
          <p:cNvPr id="371" name="Google Shape;371;p29"/>
          <p:cNvSpPr txBox="1"/>
          <p:nvPr/>
        </p:nvSpPr>
        <p:spPr>
          <a:xfrm>
            <a:off x="5863590" y="2515083"/>
            <a:ext cx="243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+ fragmented checks</a:t>
            </a:r>
            <a:endParaRPr sz="1100"/>
          </a:p>
        </p:txBody>
      </p:sp>
      <p:sp>
        <p:nvSpPr>
          <p:cNvPr id="372" name="Google Shape;372;p29"/>
          <p:cNvSpPr txBox="1"/>
          <p:nvPr/>
        </p:nvSpPr>
        <p:spPr>
          <a:xfrm>
            <a:off x="6549390" y="2857983"/>
            <a:ext cx="61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373" name="Google Shape;373;p29"/>
          <p:cNvSpPr txBox="1"/>
          <p:nvPr/>
        </p:nvSpPr>
        <p:spPr>
          <a:xfrm>
            <a:off x="5006340" y="3317469"/>
            <a:ext cx="6858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 sz="1100"/>
          </a:p>
        </p:txBody>
      </p:sp>
      <p:sp>
        <p:nvSpPr>
          <p:cNvPr id="374" name="Google Shape;374;p29"/>
          <p:cNvSpPr txBox="1"/>
          <p:nvPr/>
        </p:nvSpPr>
        <p:spPr>
          <a:xfrm>
            <a:off x="5863590" y="3221457"/>
            <a:ext cx="24345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multi-signal, explainable</a:t>
            </a:r>
            <a:br>
              <a:rPr lang="en-GB" sz="14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 b="1" i="0" u="none" strike="noStrike" cap="none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rPr>
              <a:t>risk screening</a:t>
            </a:r>
            <a:endParaRPr sz="1100"/>
          </a:p>
        </p:txBody>
      </p:sp>
      <p:sp>
        <p:nvSpPr>
          <p:cNvPr id="375" name="Google Shape;375;p29"/>
          <p:cNvSpPr txBox="1"/>
          <p:nvPr/>
        </p:nvSpPr>
        <p:spPr>
          <a:xfrm>
            <a:off x="5177790" y="3955263"/>
            <a:ext cx="3223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rgbClr val="5A646C"/>
                </a:solidFill>
                <a:latin typeface="Arial"/>
                <a:ea typeface="Arial"/>
                <a:cs typeface="Arial"/>
                <a:sym typeface="Arial"/>
              </a:rPr>
              <a:t>Human-in-the-loop • auditable • modular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DF8AA-3461-0872-D581-219CECD6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-GB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1714500" y="190500"/>
            <a:ext cx="5238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rgbClr val="1F4C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  <a:endParaRPr sz="2600" b="1">
              <a:solidFill>
                <a:srgbClr val="1F4C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0"/>
          <p:cNvSpPr txBox="1">
            <a:spLocks noGrp="1"/>
          </p:cNvSpPr>
          <p:nvPr>
            <p:ph type="ftr" idx="11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lang="en-GB">
                <a:solidFill>
                  <a:srgbClr val="FFFFFF"/>
                </a:solidFill>
              </a:rPr>
              <a:t>VERIFAI - Explainable AI-Powered Risk Screening</a:t>
            </a:r>
            <a:endParaRPr sz="9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85" name="Google Shape;385;p30"/>
          <p:cNvGrpSpPr/>
          <p:nvPr/>
        </p:nvGrpSpPr>
        <p:grpSpPr>
          <a:xfrm>
            <a:off x="381000" y="857250"/>
            <a:ext cx="4381500" cy="3381375"/>
            <a:chOff x="0" y="0"/>
            <a:chExt cx="4381500" cy="3381375"/>
          </a:xfrm>
        </p:grpSpPr>
        <p:sp>
          <p:nvSpPr>
            <p:cNvPr id="386" name="Google Shape;386;p30"/>
            <p:cNvSpPr txBox="1"/>
            <p:nvPr/>
          </p:nvSpPr>
          <p:spPr>
            <a:xfrm>
              <a:off x="0" y="0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rPr>
                <a:t>Key Literatures &amp; Resources</a:t>
              </a:r>
              <a:endParaRPr sz="1200" b="1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7" name="Google Shape;387;p30"/>
            <p:cNvGrpSpPr/>
            <p:nvPr/>
          </p:nvGrpSpPr>
          <p:grpSpPr>
            <a:xfrm>
              <a:off x="0" y="333375"/>
              <a:ext cx="4381500" cy="533400"/>
              <a:chOff x="0" y="0"/>
              <a:chExt cx="4381500" cy="533400"/>
            </a:xfrm>
          </p:grpSpPr>
          <p:sp>
            <p:nvSpPr>
              <p:cNvPr id="388" name="Google Shape;388;p30"/>
              <p:cNvSpPr/>
              <p:nvPr/>
            </p:nvSpPr>
            <p:spPr>
              <a:xfrm>
                <a:off x="0" y="0"/>
                <a:ext cx="4381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0"/>
              <p:cNvSpPr/>
              <p:nvPr/>
            </p:nvSpPr>
            <p:spPr>
              <a:xfrm>
                <a:off x="0" y="0"/>
                <a:ext cx="573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F69A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0"/>
              <p:cNvSpPr txBox="1"/>
              <p:nvPr/>
            </p:nvSpPr>
            <p:spPr>
              <a:xfrm>
                <a:off x="190500" y="57150"/>
                <a:ext cx="4000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1. Smart India Hackathon 2026</a:t>
                </a:r>
                <a:endParaRPr sz="10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Official problem statement portal — SIH26188 / Ministry of Home Affairs</a:t>
                </a:r>
                <a:endParaRPr sz="8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30"/>
            <p:cNvGrpSpPr/>
            <p:nvPr/>
          </p:nvGrpSpPr>
          <p:grpSpPr>
            <a:xfrm>
              <a:off x="0" y="962025"/>
              <a:ext cx="4381500" cy="533400"/>
              <a:chOff x="0" y="0"/>
              <a:chExt cx="4381500" cy="533400"/>
            </a:xfrm>
          </p:grpSpPr>
          <p:sp>
            <p:nvSpPr>
              <p:cNvPr id="392" name="Google Shape;392;p30"/>
              <p:cNvSpPr/>
              <p:nvPr/>
            </p:nvSpPr>
            <p:spPr>
              <a:xfrm>
                <a:off x="0" y="0"/>
                <a:ext cx="4381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0"/>
              <p:cNvSpPr/>
              <p:nvPr/>
            </p:nvSpPr>
            <p:spPr>
              <a:xfrm>
                <a:off x="0" y="0"/>
                <a:ext cx="573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27B5E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0"/>
              <p:cNvSpPr txBox="1"/>
              <p:nvPr/>
            </p:nvSpPr>
            <p:spPr>
              <a:xfrm>
                <a:off x="190500" y="57150"/>
                <a:ext cx="4000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25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2. VERIFAI-SIH-2026</a:t>
                </a:r>
                <a:endParaRPr sz="925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86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source code, architecture, AI modules, backend and frontend implementation</a:t>
                </a:r>
                <a:endParaRPr sz="786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5" name="Google Shape;395;p30"/>
            <p:cNvGrpSpPr/>
            <p:nvPr/>
          </p:nvGrpSpPr>
          <p:grpSpPr>
            <a:xfrm>
              <a:off x="0" y="1590675"/>
              <a:ext cx="4381500" cy="533400"/>
              <a:chOff x="0" y="0"/>
              <a:chExt cx="4381500" cy="533400"/>
            </a:xfrm>
          </p:grpSpPr>
          <p:sp>
            <p:nvSpPr>
              <p:cNvPr id="396" name="Google Shape;396;p30"/>
              <p:cNvSpPr/>
              <p:nvPr/>
            </p:nvSpPr>
            <p:spPr>
              <a:xfrm>
                <a:off x="0" y="0"/>
                <a:ext cx="4381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0" y="0"/>
                <a:ext cx="573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8059A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0"/>
              <p:cNvSpPr txBox="1"/>
              <p:nvPr/>
            </p:nvSpPr>
            <p:spPr>
              <a:xfrm>
                <a:off x="190500" y="57150"/>
                <a:ext cx="4000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3. ICAO Doc 9303</a:t>
                </a:r>
                <a:endParaRPr sz="10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Machine Readable Travel Documents — MRZ structure and check digit validation</a:t>
                </a:r>
                <a:endParaRPr sz="8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p30"/>
            <p:cNvGrpSpPr/>
            <p:nvPr/>
          </p:nvGrpSpPr>
          <p:grpSpPr>
            <a:xfrm>
              <a:off x="0" y="2219325"/>
              <a:ext cx="4381500" cy="533400"/>
              <a:chOff x="0" y="0"/>
              <a:chExt cx="4381500" cy="533400"/>
            </a:xfrm>
          </p:grpSpPr>
          <p:sp>
            <p:nvSpPr>
              <p:cNvPr id="400" name="Google Shape;400;p30"/>
              <p:cNvSpPr/>
              <p:nvPr/>
            </p:nvSpPr>
            <p:spPr>
              <a:xfrm>
                <a:off x="0" y="0"/>
                <a:ext cx="4381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0" y="0"/>
                <a:ext cx="573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EE696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0"/>
              <p:cNvSpPr txBox="1"/>
              <p:nvPr/>
            </p:nvSpPr>
            <p:spPr>
              <a:xfrm>
                <a:off x="190500" y="57150"/>
                <a:ext cx="4000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 dirty="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4. </a:t>
                </a:r>
                <a:r>
                  <a:rPr lang="en-GB" sz="1000" b="1" dirty="0" err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PaddleOCR</a:t>
                </a:r>
                <a:endParaRPr sz="10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OCR engine used by the repository's OCR/MRZ subsystem</a:t>
                </a:r>
                <a:endParaRPr sz="85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30"/>
            <p:cNvGrpSpPr/>
            <p:nvPr/>
          </p:nvGrpSpPr>
          <p:grpSpPr>
            <a:xfrm>
              <a:off x="0" y="2847975"/>
              <a:ext cx="4381500" cy="533400"/>
              <a:chOff x="0" y="0"/>
              <a:chExt cx="4381500" cy="533400"/>
            </a:xfrm>
          </p:grpSpPr>
          <p:sp>
            <p:nvSpPr>
              <p:cNvPr id="404" name="Google Shape;404;p30"/>
              <p:cNvSpPr/>
              <p:nvPr/>
            </p:nvSpPr>
            <p:spPr>
              <a:xfrm>
                <a:off x="0" y="0"/>
                <a:ext cx="4381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0" y="0"/>
                <a:ext cx="573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4AC28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0"/>
              <p:cNvSpPr txBox="1"/>
              <p:nvPr/>
            </p:nvSpPr>
            <p:spPr>
              <a:xfrm>
                <a:off x="190500" y="57150"/>
                <a:ext cx="4000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5. FastAPI + PostgreSQL + Docker</a:t>
                </a:r>
                <a:endParaRPr sz="10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85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Backend API, persistence and containerized deployment components</a:t>
                </a:r>
                <a:endParaRPr sz="8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7" name="Google Shape;407;p30"/>
          <p:cNvGrpSpPr/>
          <p:nvPr/>
        </p:nvGrpSpPr>
        <p:grpSpPr>
          <a:xfrm>
            <a:off x="5048250" y="857250"/>
            <a:ext cx="3714900" cy="3381450"/>
            <a:chOff x="0" y="0"/>
            <a:chExt cx="3714900" cy="3381450"/>
          </a:xfrm>
        </p:grpSpPr>
        <p:sp>
          <p:nvSpPr>
            <p:cNvPr id="408" name="Google Shape;408;p30"/>
            <p:cNvSpPr txBox="1"/>
            <p:nvPr/>
          </p:nvSpPr>
          <p:spPr>
            <a:xfrm>
              <a:off x="0" y="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rPr>
                <a:t>Project Links &amp; Demo</a:t>
              </a:r>
              <a:endParaRPr sz="1200" b="1">
                <a:solidFill>
                  <a:srgbClr val="1F4C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9" name="Google Shape;409;p30"/>
            <p:cNvGrpSpPr/>
            <p:nvPr/>
          </p:nvGrpSpPr>
          <p:grpSpPr>
            <a:xfrm>
              <a:off x="0" y="333375"/>
              <a:ext cx="3714900" cy="619200"/>
              <a:chOff x="0" y="0"/>
              <a:chExt cx="3714900" cy="619200"/>
            </a:xfrm>
          </p:grpSpPr>
          <p:sp>
            <p:nvSpPr>
              <p:cNvPr id="410" name="Google Shape;410;p30"/>
              <p:cNvSpPr/>
              <p:nvPr/>
            </p:nvSpPr>
            <p:spPr>
              <a:xfrm>
                <a:off x="0" y="0"/>
                <a:ext cx="3714900" cy="619200"/>
              </a:xfrm>
              <a:prstGeom prst="roundRect">
                <a:avLst>
                  <a:gd name="adj" fmla="val 9230"/>
                </a:avLst>
              </a:prstGeom>
              <a:solidFill>
                <a:srgbClr val="F8F9FA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0"/>
              <p:cNvSpPr txBox="1"/>
              <p:nvPr/>
            </p:nvSpPr>
            <p:spPr>
              <a:xfrm>
                <a:off x="142875" y="76200"/>
                <a:ext cx="3429000" cy="4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00" b="1" dirty="0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Source Code</a:t>
                </a:r>
                <a:endParaRPr sz="900" b="1" dirty="0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950" b="1" u="sng" dirty="0">
                    <a:solidFill>
                      <a:schemeClr val="hlink"/>
                    </a:solidFill>
                    <a:latin typeface="Arial"/>
                    <a:ea typeface="Arial"/>
                    <a:cs typeface="Arial"/>
                    <a:sym typeface="Arial"/>
                    <a:hlinkClick r:id="rId3"/>
                  </a:rPr>
                  <a:t>https://github.com/EclipseExists/VERIFAI-SIH-2026</a:t>
                </a:r>
                <a:endParaRPr sz="950" b="1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30"/>
            <p:cNvGrpSpPr/>
            <p:nvPr/>
          </p:nvGrpSpPr>
          <p:grpSpPr>
            <a:xfrm>
              <a:off x="0" y="1047750"/>
              <a:ext cx="3714900" cy="619200"/>
              <a:chOff x="0" y="0"/>
              <a:chExt cx="3714900" cy="6192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0" y="0"/>
                <a:ext cx="3714900" cy="619200"/>
              </a:xfrm>
              <a:prstGeom prst="roundRect">
                <a:avLst>
                  <a:gd name="adj" fmla="val 9230"/>
                </a:avLst>
              </a:prstGeom>
              <a:solidFill>
                <a:srgbClr val="F8F9FA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0"/>
              <p:cNvSpPr txBox="1"/>
              <p:nvPr/>
            </p:nvSpPr>
            <p:spPr>
              <a:xfrm>
                <a:off x="142875" y="76200"/>
                <a:ext cx="3429000" cy="4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00" b="1" dirty="0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Official SIH</a:t>
                </a:r>
                <a:endParaRPr sz="900" b="1" dirty="0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lvl="0">
                  <a:spcBef>
                    <a:spcPts val="225"/>
                  </a:spcBef>
                </a:pPr>
                <a:r>
                  <a:rPr lang="en-IN" sz="1000" dirty="0">
                    <a:hlinkClick r:id="rId4"/>
                  </a:rPr>
                  <a:t>Smart India Hackathon</a:t>
                </a:r>
                <a:endParaRPr sz="950" b="1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" name="Google Shape;415;p30"/>
            <p:cNvGrpSpPr/>
            <p:nvPr/>
          </p:nvGrpSpPr>
          <p:grpSpPr>
            <a:xfrm>
              <a:off x="0" y="1762125"/>
              <a:ext cx="3714900" cy="1047900"/>
              <a:chOff x="0" y="0"/>
              <a:chExt cx="3714900" cy="1047900"/>
            </a:xfrm>
          </p:grpSpPr>
          <p:sp>
            <p:nvSpPr>
              <p:cNvPr id="416" name="Google Shape;416;p30"/>
              <p:cNvSpPr/>
              <p:nvPr/>
            </p:nvSpPr>
            <p:spPr>
              <a:xfrm>
                <a:off x="0" y="0"/>
                <a:ext cx="37149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0FDF4"/>
              </a:solidFill>
              <a:ln w="14300" cap="flat" cmpd="sng">
                <a:solidFill>
                  <a:srgbClr val="DCFCE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0"/>
              <p:cNvSpPr txBox="1"/>
              <p:nvPr/>
            </p:nvSpPr>
            <p:spPr>
              <a:xfrm>
                <a:off x="190500" y="114300"/>
                <a:ext cx="33339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 dirty="0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DEMO / DEPLOYMENT</a:t>
                </a:r>
                <a:endParaRPr sz="1000" b="1" dirty="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Prototype and backend APIs are maintained in the project repository.</a:t>
                </a:r>
                <a:endParaRPr sz="850" b="0" dirty="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850" b="1" dirty="0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Add your final live-demo URL here when available.</a:t>
                </a:r>
                <a:endParaRPr sz="850" b="1" dirty="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0" y="2952750"/>
              <a:ext cx="3714900" cy="428700"/>
              <a:chOff x="0" y="0"/>
              <a:chExt cx="3714900" cy="428700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0" y="0"/>
                <a:ext cx="3714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0"/>
              <p:cNvSpPr txBox="1"/>
              <p:nvPr/>
            </p:nvSpPr>
            <p:spPr>
              <a:xfrm>
                <a:off x="0" y="0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1F4C81"/>
                    </a:solidFill>
                    <a:latin typeface="Arial"/>
                    <a:ea typeface="Arial"/>
                    <a:cs typeface="Arial"/>
                    <a:sym typeface="Arial"/>
                  </a:rPr>
                  <a:t>VERIFAI</a:t>
                </a:r>
                <a:endParaRPr sz="1400" b="1">
                  <a:solidFill>
                    <a:srgbClr val="1F4C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Explainable AI-Powered Risk Screening</a:t>
                </a:r>
                <a:endParaRPr sz="750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1" name="Google Shape;421;p30" descr="Your startup LOGO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44927-3747-E345-FFB7-7915618BC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889" y="-5692"/>
            <a:ext cx="1745281" cy="8870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862</Words>
  <Application>Microsoft Office PowerPoint</Application>
  <PresentationFormat>On-screen Show (16:9)</PresentationFormat>
  <Paragraphs>174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Garamond</vt:lpstr>
      <vt:lpstr>Oswald</vt:lpstr>
      <vt:lpstr>Calibri</vt:lpstr>
      <vt:lpstr>Times New Roman</vt:lpstr>
      <vt:lpstr>Arial</vt:lpstr>
      <vt:lpstr>Simple Light</vt:lpstr>
      <vt:lpstr>Office Theme</vt:lpstr>
      <vt:lpstr>SMART INDIA HACKATHON 2026</vt:lpstr>
      <vt:lpstr> Proposed Solution</vt:lpstr>
      <vt:lpstr>TECHNICAL APPROACH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Kavya gupta</cp:lastModifiedBy>
  <cp:revision>1</cp:revision>
  <dcterms:modified xsi:type="dcterms:W3CDTF">2026-09-10T10:24:22Z</dcterms:modified>
</cp:coreProperties>
</file>